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9" r:id="rId4"/>
    <p:sldId id="263" r:id="rId5"/>
    <p:sldId id="266" r:id="rId6"/>
    <p:sldId id="265" r:id="rId7"/>
    <p:sldId id="267" r:id="rId8"/>
    <p:sldId id="264" r:id="rId9"/>
    <p:sldId id="268" r:id="rId10"/>
    <p:sldId id="273" r:id="rId11"/>
    <p:sldId id="272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F2158-2539-486B-B4AA-751C81E3FFC9}" v="10" dt="2026-02-02T21:39:23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e SIJILMASSI" userId="e4021463-8212-4a47-8e05-1eade5e16ef5" providerId="ADAL" clId="{83FA3FF6-0DB5-44A4-9641-D1039730EAAF}"/>
    <pc:docChg chg="custSel addSld delSld modSld sldOrd">
      <pc:chgData name="Amine SIJILMASSI" userId="e4021463-8212-4a47-8e05-1eade5e16ef5" providerId="ADAL" clId="{83FA3FF6-0DB5-44A4-9641-D1039730EAAF}" dt="2026-02-03T09:05:51.549" v="132" actId="14100"/>
      <pc:docMkLst>
        <pc:docMk/>
      </pc:docMkLst>
      <pc:sldChg chg="modSp mod">
        <pc:chgData name="Amine SIJILMASSI" userId="e4021463-8212-4a47-8e05-1eade5e16ef5" providerId="ADAL" clId="{83FA3FF6-0DB5-44A4-9641-D1039730EAAF}" dt="2026-02-02T21:28:48.846" v="8" actId="20577"/>
        <pc:sldMkLst>
          <pc:docMk/>
          <pc:sldMk cId="3874556803" sldId="262"/>
        </pc:sldMkLst>
        <pc:spChg chg="mod">
          <ac:chgData name="Amine SIJILMASSI" userId="e4021463-8212-4a47-8e05-1eade5e16ef5" providerId="ADAL" clId="{83FA3FF6-0DB5-44A4-9641-D1039730EAAF}" dt="2026-02-02T21:28:48.846" v="8" actId="20577"/>
          <ac:spMkLst>
            <pc:docMk/>
            <pc:sldMk cId="3874556803" sldId="262"/>
            <ac:spMk id="2" creationId="{76209382-1201-BE4A-2745-F7B1E5E93996}"/>
          </ac:spMkLst>
        </pc:spChg>
      </pc:sldChg>
      <pc:sldChg chg="addSp modSp mod">
        <pc:chgData name="Amine SIJILMASSI" userId="e4021463-8212-4a47-8e05-1eade5e16ef5" providerId="ADAL" clId="{83FA3FF6-0DB5-44A4-9641-D1039730EAAF}" dt="2026-02-02T21:31:23.186" v="97" actId="1076"/>
        <pc:sldMkLst>
          <pc:docMk/>
          <pc:sldMk cId="4078024211" sldId="263"/>
        </pc:sldMkLst>
        <pc:spChg chg="mod">
          <ac:chgData name="Amine SIJILMASSI" userId="e4021463-8212-4a47-8e05-1eade5e16ef5" providerId="ADAL" clId="{83FA3FF6-0DB5-44A4-9641-D1039730EAAF}" dt="2026-02-02T21:30:34.430" v="18" actId="1076"/>
          <ac:spMkLst>
            <pc:docMk/>
            <pc:sldMk cId="4078024211" sldId="263"/>
            <ac:spMk id="4" creationId="{748970B3-DEB5-0515-2C22-3685C67734CE}"/>
          </ac:spMkLst>
        </pc:spChg>
        <pc:spChg chg="mod">
          <ac:chgData name="Amine SIJILMASSI" userId="e4021463-8212-4a47-8e05-1eade5e16ef5" providerId="ADAL" clId="{83FA3FF6-0DB5-44A4-9641-D1039730EAAF}" dt="2026-02-02T21:30:34.430" v="18" actId="1076"/>
          <ac:spMkLst>
            <pc:docMk/>
            <pc:sldMk cId="4078024211" sldId="263"/>
            <ac:spMk id="6" creationId="{E48F96F1-B375-8884-0B93-62107EE357E9}"/>
          </ac:spMkLst>
        </pc:spChg>
        <pc:spChg chg="mod">
          <ac:chgData name="Amine SIJILMASSI" userId="e4021463-8212-4a47-8e05-1eade5e16ef5" providerId="ADAL" clId="{83FA3FF6-0DB5-44A4-9641-D1039730EAAF}" dt="2026-02-02T21:31:16.883" v="96" actId="1076"/>
          <ac:spMkLst>
            <pc:docMk/>
            <pc:sldMk cId="4078024211" sldId="263"/>
            <ac:spMk id="7" creationId="{E1263412-ED42-8768-0E46-E54FBFC49955}"/>
          </ac:spMkLst>
        </pc:spChg>
        <pc:spChg chg="add mod">
          <ac:chgData name="Amine SIJILMASSI" userId="e4021463-8212-4a47-8e05-1eade5e16ef5" providerId="ADAL" clId="{83FA3FF6-0DB5-44A4-9641-D1039730EAAF}" dt="2026-02-02T21:31:23.186" v="97" actId="1076"/>
          <ac:spMkLst>
            <pc:docMk/>
            <pc:sldMk cId="4078024211" sldId="263"/>
            <ac:spMk id="8" creationId="{EC6BF31E-4B54-40C9-D440-1103F9ABA14F}"/>
          </ac:spMkLst>
        </pc:spChg>
        <pc:spChg chg="add mod">
          <ac:chgData name="Amine SIJILMASSI" userId="e4021463-8212-4a47-8e05-1eade5e16ef5" providerId="ADAL" clId="{83FA3FF6-0DB5-44A4-9641-D1039730EAAF}" dt="2026-02-02T21:31:23.186" v="97" actId="1076"/>
          <ac:spMkLst>
            <pc:docMk/>
            <pc:sldMk cId="4078024211" sldId="263"/>
            <ac:spMk id="9" creationId="{FD283463-D0B6-E6E3-980E-8E45BE68A17A}"/>
          </ac:spMkLst>
        </pc:spChg>
      </pc:sldChg>
      <pc:sldChg chg="modSp mod">
        <pc:chgData name="Amine SIJILMASSI" userId="e4021463-8212-4a47-8e05-1eade5e16ef5" providerId="ADAL" clId="{83FA3FF6-0DB5-44A4-9641-D1039730EAAF}" dt="2026-02-02T21:29:53.957" v="12" actId="20577"/>
        <pc:sldMkLst>
          <pc:docMk/>
          <pc:sldMk cId="185221535" sldId="264"/>
        </pc:sldMkLst>
        <pc:spChg chg="mod">
          <ac:chgData name="Amine SIJILMASSI" userId="e4021463-8212-4a47-8e05-1eade5e16ef5" providerId="ADAL" clId="{83FA3FF6-0DB5-44A4-9641-D1039730EAAF}" dt="2026-02-02T21:29:53.957" v="12" actId="20577"/>
          <ac:spMkLst>
            <pc:docMk/>
            <pc:sldMk cId="185221535" sldId="264"/>
            <ac:spMk id="2" creationId="{BFF94A2F-BF53-47EB-2785-7D9850ABA337}"/>
          </ac:spMkLst>
        </pc:spChg>
      </pc:sldChg>
      <pc:sldChg chg="addSp modSp">
        <pc:chgData name="Amine SIJILMASSI" userId="e4021463-8212-4a47-8e05-1eade5e16ef5" providerId="ADAL" clId="{83FA3FF6-0DB5-44A4-9641-D1039730EAAF}" dt="2026-02-02T21:29:42.028" v="10"/>
        <pc:sldMkLst>
          <pc:docMk/>
          <pc:sldMk cId="77280992" sldId="268"/>
        </pc:sldMkLst>
        <pc:spChg chg="add mod">
          <ac:chgData name="Amine SIJILMASSI" userId="e4021463-8212-4a47-8e05-1eade5e16ef5" providerId="ADAL" clId="{83FA3FF6-0DB5-44A4-9641-D1039730EAAF}" dt="2026-02-02T21:29:42.028" v="10"/>
          <ac:spMkLst>
            <pc:docMk/>
            <pc:sldMk cId="77280992" sldId="268"/>
            <ac:spMk id="11" creationId="{CC755647-8107-413A-3390-F5F3413569C9}"/>
          </ac:spMkLst>
        </pc:spChg>
      </pc:sldChg>
      <pc:sldChg chg="addSp">
        <pc:chgData name="Amine SIJILMASSI" userId="e4021463-8212-4a47-8e05-1eade5e16ef5" providerId="ADAL" clId="{83FA3FF6-0DB5-44A4-9641-D1039730EAAF}" dt="2026-02-02T21:38:54.031" v="99"/>
        <pc:sldMkLst>
          <pc:docMk/>
          <pc:sldMk cId="906500328" sldId="269"/>
        </pc:sldMkLst>
        <pc:picChg chg="add">
          <ac:chgData name="Amine SIJILMASSI" userId="e4021463-8212-4a47-8e05-1eade5e16ef5" providerId="ADAL" clId="{83FA3FF6-0DB5-44A4-9641-D1039730EAAF}" dt="2026-02-02T21:38:54.031" v="99"/>
          <ac:picMkLst>
            <pc:docMk/>
            <pc:sldMk cId="906500328" sldId="269"/>
            <ac:picMk id="6146" creationId="{79A8C154-F120-7DE4-308C-595D4DDCC413}"/>
          </ac:picMkLst>
        </pc:picChg>
      </pc:sldChg>
      <pc:sldChg chg="modSp mod">
        <pc:chgData name="Amine SIJILMASSI" userId="e4021463-8212-4a47-8e05-1eade5e16ef5" providerId="ADAL" clId="{83FA3FF6-0DB5-44A4-9641-D1039730EAAF}" dt="2026-02-03T09:05:51.549" v="132" actId="14100"/>
        <pc:sldMkLst>
          <pc:docMk/>
          <pc:sldMk cId="2257437721" sldId="270"/>
        </pc:sldMkLst>
        <pc:spChg chg="mod">
          <ac:chgData name="Amine SIJILMASSI" userId="e4021463-8212-4a47-8e05-1eade5e16ef5" providerId="ADAL" clId="{83FA3FF6-0DB5-44A4-9641-D1039730EAAF}" dt="2026-02-03T09:05:51.549" v="132" actId="14100"/>
          <ac:spMkLst>
            <pc:docMk/>
            <pc:sldMk cId="2257437721" sldId="270"/>
            <ac:spMk id="7" creationId="{4EA4D6D2-3DAE-4D42-D73A-678BDDC93C4C}"/>
          </ac:spMkLst>
        </pc:spChg>
        <pc:spChg chg="mod">
          <ac:chgData name="Amine SIJILMASSI" userId="e4021463-8212-4a47-8e05-1eade5e16ef5" providerId="ADAL" clId="{83FA3FF6-0DB5-44A4-9641-D1039730EAAF}" dt="2026-02-02T21:38:44.759" v="98" actId="1076"/>
          <ac:spMkLst>
            <pc:docMk/>
            <pc:sldMk cId="2257437721" sldId="270"/>
            <ac:spMk id="14" creationId="{DC33421B-4CF3-52B6-8E54-967D36BC0B86}"/>
          </ac:spMkLst>
        </pc:spChg>
      </pc:sldChg>
      <pc:sldChg chg="addSp modSp new del mod ord">
        <pc:chgData name="Amine SIJILMASSI" userId="e4021463-8212-4a47-8e05-1eade5e16ef5" providerId="ADAL" clId="{83FA3FF6-0DB5-44A4-9641-D1039730EAAF}" dt="2026-02-03T08:06:49.499" v="131" actId="47"/>
        <pc:sldMkLst>
          <pc:docMk/>
          <pc:sldMk cId="1138448079" sldId="271"/>
        </pc:sldMkLst>
        <pc:spChg chg="add mod">
          <ac:chgData name="Amine SIJILMASSI" userId="e4021463-8212-4a47-8e05-1eade5e16ef5" providerId="ADAL" clId="{83FA3FF6-0DB5-44A4-9641-D1039730EAAF}" dt="2026-02-02T21:29:59.747" v="15" actId="20577"/>
          <ac:spMkLst>
            <pc:docMk/>
            <pc:sldMk cId="1138448079" sldId="271"/>
            <ac:spMk id="2" creationId="{3128D6B3-11D9-7076-E1A8-2DC01957AB61}"/>
          </ac:spMkLst>
        </pc:spChg>
      </pc:sldChg>
      <pc:sldChg chg="addSp delSp modSp new mod ord">
        <pc:chgData name="Amine SIJILMASSI" userId="e4021463-8212-4a47-8e05-1eade5e16ef5" providerId="ADAL" clId="{83FA3FF6-0DB5-44A4-9641-D1039730EAAF}" dt="2026-02-02T21:39:45.947" v="130" actId="20577"/>
        <pc:sldMkLst>
          <pc:docMk/>
          <pc:sldMk cId="1710036918" sldId="272"/>
        </pc:sldMkLst>
        <pc:spChg chg="del">
          <ac:chgData name="Amine SIJILMASSI" userId="e4021463-8212-4a47-8e05-1eade5e16ef5" providerId="ADAL" clId="{83FA3FF6-0DB5-44A4-9641-D1039730EAAF}" dt="2026-02-02T21:39:02.936" v="101" actId="478"/>
          <ac:spMkLst>
            <pc:docMk/>
            <pc:sldMk cId="1710036918" sldId="272"/>
            <ac:spMk id="2" creationId="{129CFC39-DB5A-4E8B-F651-C8C2EC3E38B5}"/>
          </ac:spMkLst>
        </pc:spChg>
        <pc:spChg chg="del">
          <ac:chgData name="Amine SIJILMASSI" userId="e4021463-8212-4a47-8e05-1eade5e16ef5" providerId="ADAL" clId="{83FA3FF6-0DB5-44A4-9641-D1039730EAAF}" dt="2026-02-02T21:39:02.936" v="101" actId="478"/>
          <ac:spMkLst>
            <pc:docMk/>
            <pc:sldMk cId="1710036918" sldId="272"/>
            <ac:spMk id="3" creationId="{C6D3658A-66BD-00E2-E405-36F115C1D8E6}"/>
          </ac:spMkLst>
        </pc:spChg>
        <pc:spChg chg="add mod">
          <ac:chgData name="Amine SIJILMASSI" userId="e4021463-8212-4a47-8e05-1eade5e16ef5" providerId="ADAL" clId="{83FA3FF6-0DB5-44A4-9641-D1039730EAAF}" dt="2026-02-02T21:39:45.947" v="130" actId="20577"/>
          <ac:spMkLst>
            <pc:docMk/>
            <pc:sldMk cId="1710036918" sldId="272"/>
            <ac:spMk id="4" creationId="{3E0D5472-73B9-02FC-FBF9-923E689E312E}"/>
          </ac:spMkLst>
        </pc:spChg>
        <pc:picChg chg="add mod">
          <ac:chgData name="Amine SIJILMASSI" userId="e4021463-8212-4a47-8e05-1eade5e16ef5" providerId="ADAL" clId="{83FA3FF6-0DB5-44A4-9641-D1039730EAAF}" dt="2026-02-02T21:39:10.360" v="104" actId="1076"/>
          <ac:picMkLst>
            <pc:docMk/>
            <pc:sldMk cId="1710036918" sldId="272"/>
            <ac:picMk id="7170" creationId="{14DE38AC-88AA-A568-C2B5-5B65F29E2D8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94401-B7BF-0226-F6DA-F36DDB94F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1639F1-3D6C-90DC-5EDE-BA06F97A4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7E6AED-72F8-C30A-D7A2-401D376E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D467C-8827-DECA-FDF1-C1695438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A3BD9E-A2F2-21D4-8472-F89FA31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73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4F2BF-6C90-462D-54F6-4539F2FA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DFADC-64F9-F8DE-0E56-92D4C4E6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973F8-40A0-A0CD-A7A8-5EC897F8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441D1F-589C-CAEF-D28E-1E8028F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ADAD2-9A73-A5CF-E5E8-41A37EEE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8448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D01645-48E7-C5C3-DCE1-2850CF66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5BBDD7-8861-334E-B66E-87CCD902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D3FB2-AF0E-5E62-3373-46A1E564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A3EE9F-2E2F-C338-4133-4617F6DC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608028-B5FF-BC4C-E9EB-0A0CD8E5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39329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4777A8-6151-6C86-6E9A-4F2B6442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2761C-8F31-1A90-9A93-08178638C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3ED45D-DFA6-5D3E-B2FE-E1DBEC916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35AF26-5987-A6A9-9E65-B5792CB0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90D43F-365B-5058-0977-E6C44E7A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46DB65-08A7-C25D-FF2C-C5879924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5448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2F4574-0ECC-CB1C-B8C7-36089F61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1CDCEB-91F3-F883-FC75-29971A104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ECBCC-99FA-6FED-22A2-6FDCADFBC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1A2A159-F0C3-90F1-B4CA-DB3201769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55ECCDF-6A6C-7C95-94F5-4F6391773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A1A636D-66CB-4907-54A8-19702B5C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8F0939-D02D-DDB6-8889-C72DF180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3237C23-55D8-5F6B-F35B-B1026DF0F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393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F5047-D356-FA54-295E-5422B897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F75BBB-94C4-6F69-CC3E-723858F1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3DBE2D-ECD2-B5D1-6FC8-2F4EE715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1F0A6FC-FDF8-AE11-9F90-A54B84A6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3459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87D930-BE22-2117-F62D-E7A57F09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4B7A47-E238-D230-8907-A132A5EB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5CA23E-E225-F12A-82BD-C3D72213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0326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0E842-2E58-2194-9075-2E1134A4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D00B02-AA46-4C8B-8DC8-79186E991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6FB709-87D1-1960-36F8-55E71889E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7A1E66-D6FA-0E1F-606B-136C1F66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1DAC8D-284C-CECF-B5BC-AC29CA39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904A7D-7B26-BD6C-5BC0-A746B15E5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6959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B23C8-F727-9302-5972-E0DF0756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AEA283-B803-5D7E-94E0-AF6A8F303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1A3078-89D1-7214-326F-4D9AFB5FA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639555-DB92-C574-2B3C-4DE556CE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FD9DCA-2426-DFEF-4950-CBA344CB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2650FD-6014-0A12-A8E0-56B63812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9376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FDBB8-D93D-84F2-F503-F935073B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C40523-D51F-5E51-CA39-C87157EF7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05E777-B53C-7AE7-743D-2F63FAD5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13F00A-7C15-48DB-4716-1C28F6DF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03E01C-FC01-02BB-4451-6B7ED86B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3191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B6B9BC-918B-054C-B2C5-579FBFB28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CD70AD-A656-30E1-32C7-109A2094C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E99B7B-0DE4-F5A5-93CF-8BA1BD35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C529C7-4BF2-45BC-BFDA-609DB554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26E544-2591-B8DC-BC2F-C8240F39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7900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994CEB-32E6-4B07-AD7E-0C381B74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7D21F-D871-4238-B2B7-B222FF81261A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18BCB2-E0C7-47FD-92F7-4D8CE2E0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50E1AD-2EB1-475C-BDBE-D6BC2414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112B-6F1B-4677-8205-6676B0559B3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03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DE64D1-B90C-261A-73AD-E452E06D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C3C932-88BE-F322-BBD5-73A2A134F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DA722-3E30-0B26-3874-401FF465D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85842-67EF-49BE-9589-365A61877545}" type="datetimeFigureOut">
              <a:rPr lang="fr-MA" smtClean="0"/>
              <a:t>28/09/2026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7CD017-7918-ECC4-CDF8-9113EA26F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9D0EFF-AF23-E35F-181F-813335EB2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22066-6459-4AC9-A6BC-9110FAF9D202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8103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A496C5E-1978-4E6C-8150-2E9741F05291}"/>
              </a:ext>
            </a:extLst>
          </p:cNvPr>
          <p:cNvSpPr txBox="1"/>
          <p:nvPr/>
        </p:nvSpPr>
        <p:spPr>
          <a:xfrm>
            <a:off x="2132201" y="2481370"/>
            <a:ext cx="7927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/>
              <a:t>SOC301B-2026</a:t>
            </a:r>
          </a:p>
        </p:txBody>
      </p:sp>
      <p:pic>
        <p:nvPicPr>
          <p:cNvPr id="1026" name="Picture 2" descr="Université Mohammed VI Polytechnique — Wikipédia">
            <a:extLst>
              <a:ext uri="{FF2B5EF4-FFF2-40B4-BE49-F238E27FC236}">
                <a16:creationId xmlns:a16="http://schemas.microsoft.com/office/drawing/2014/main" id="{C8A6FA12-D106-4A83-8FE7-B8AABBF51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864" y="0"/>
            <a:ext cx="2754136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702A98-D23B-4788-AF64-6F726E1BDFDF}"/>
              </a:ext>
            </a:extLst>
          </p:cNvPr>
          <p:cNvSpPr txBox="1"/>
          <p:nvPr/>
        </p:nvSpPr>
        <p:spPr>
          <a:xfrm>
            <a:off x="2132201" y="5484837"/>
            <a:ext cx="79275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dirty="0"/>
              <a:t>Amine </a:t>
            </a:r>
            <a:r>
              <a:rPr lang="fr-MA" sz="1600" dirty="0" err="1"/>
              <a:t>Sijilmassi</a:t>
            </a:r>
            <a:endParaRPr lang="fr-MA" sz="1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B1FC67-F72D-4CF2-9857-E95207F44D28}"/>
              </a:ext>
            </a:extLst>
          </p:cNvPr>
          <p:cNvSpPr txBox="1"/>
          <p:nvPr/>
        </p:nvSpPr>
        <p:spPr>
          <a:xfrm>
            <a:off x="-3" y="4392526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400" dirty="0"/>
              <a:t>Week 5: General </a:t>
            </a:r>
            <a:r>
              <a:rPr lang="fr-MA" sz="2400" dirty="0" err="1"/>
              <a:t>Linear</a:t>
            </a:r>
            <a:r>
              <a:rPr lang="fr-MA" sz="2400" dirty="0"/>
              <a:t> Model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005460-CCED-4FB7-8BF7-69D136487378}"/>
              </a:ext>
            </a:extLst>
          </p:cNvPr>
          <p:cNvSpPr txBox="1"/>
          <p:nvPr/>
        </p:nvSpPr>
        <p:spPr>
          <a:xfrm>
            <a:off x="2132197" y="5823391"/>
            <a:ext cx="79275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dirty="0"/>
              <a:t>amine.sijilmassi@um6p.ma</a:t>
            </a:r>
          </a:p>
        </p:txBody>
      </p:sp>
    </p:spTree>
    <p:extLst>
      <p:ext uri="{BB962C8B-B14F-4D97-AF65-F5344CB8AC3E}">
        <p14:creationId xmlns:p14="http://schemas.microsoft.com/office/powerpoint/2010/main" val="294739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ample Size: How to Determine Appropriate Sample Sizes">
            <a:extLst>
              <a:ext uri="{FF2B5EF4-FFF2-40B4-BE49-F238E27FC236}">
                <a16:creationId xmlns:a16="http://schemas.microsoft.com/office/drawing/2014/main" id="{6F570829-0571-D5EE-E329-E5AC5C122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517" y="1777092"/>
            <a:ext cx="7700965" cy="360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6209382-1201-BE4A-2745-F7B1E5E93996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Point 1: </a:t>
            </a:r>
            <a:r>
              <a:rPr lang="fr-MA" sz="4400" b="1" dirty="0" err="1"/>
              <a:t>Statistical</a:t>
            </a:r>
            <a:r>
              <a:rPr lang="fr-MA" sz="4400" b="1" dirty="0"/>
              <a:t> </a:t>
            </a:r>
            <a:r>
              <a:rPr lang="fr-MA" sz="4400" b="1" dirty="0" err="1"/>
              <a:t>inference</a:t>
            </a:r>
            <a:endParaRPr lang="fr-MA" sz="4400" b="1" dirty="0"/>
          </a:p>
        </p:txBody>
      </p:sp>
    </p:spTree>
    <p:extLst>
      <p:ext uri="{BB962C8B-B14F-4D97-AF65-F5344CB8AC3E}">
        <p14:creationId xmlns:p14="http://schemas.microsoft.com/office/powerpoint/2010/main" val="387455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7805138-460C-9848-6200-7B3E86DB2D36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General </a:t>
            </a:r>
            <a:r>
              <a:rPr lang="fr-MA" sz="4400" b="1" dirty="0" err="1"/>
              <a:t>Linear</a:t>
            </a:r>
            <a:r>
              <a:rPr lang="fr-MA" sz="4400" b="1" dirty="0"/>
              <a:t> Model</a:t>
            </a:r>
          </a:p>
        </p:txBody>
      </p:sp>
      <p:pic>
        <p:nvPicPr>
          <p:cNvPr id="1026" name="Picture 2" descr="Linear Regression Explained with Example &amp; Application">
            <a:extLst>
              <a:ext uri="{FF2B5EF4-FFF2-40B4-BE49-F238E27FC236}">
                <a16:creationId xmlns:a16="http://schemas.microsoft.com/office/drawing/2014/main" id="{5C9FA90A-6644-79BE-5F6E-8060AD5C4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978" y="1034142"/>
            <a:ext cx="7854043" cy="523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37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55E2-C8AD-0937-842D-2B84657A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665FA53-76C1-13AC-FDB4-5C960390FB66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General </a:t>
            </a:r>
            <a:r>
              <a:rPr lang="fr-MA" sz="4400" b="1" dirty="0" err="1"/>
              <a:t>Linear</a:t>
            </a:r>
            <a:r>
              <a:rPr lang="fr-MA" sz="4400" b="1" dirty="0"/>
              <a:t> Model</a:t>
            </a:r>
          </a:p>
        </p:txBody>
      </p:sp>
      <p:pic>
        <p:nvPicPr>
          <p:cNvPr id="1026" name="Picture 2" descr="Linear Regression Explained with Example &amp; Application">
            <a:extLst>
              <a:ext uri="{FF2B5EF4-FFF2-40B4-BE49-F238E27FC236}">
                <a16:creationId xmlns:a16="http://schemas.microsoft.com/office/drawing/2014/main" id="{D201691D-5A24-B036-5F7C-E99FCC437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957" y="1089006"/>
            <a:ext cx="7854043" cy="523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74EAE2E-982B-F192-3957-7517178B7A80}"/>
              </a:ext>
            </a:extLst>
          </p:cNvPr>
          <p:cNvSpPr txBox="1"/>
          <p:nvPr/>
        </p:nvSpPr>
        <p:spPr>
          <a:xfrm>
            <a:off x="-2" y="1089006"/>
            <a:ext cx="4337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2400" b="1" dirty="0" err="1"/>
              <a:t>What</a:t>
            </a:r>
            <a:r>
              <a:rPr lang="fr-MA" sz="2400" b="1" dirty="0"/>
              <a:t> </a:t>
            </a:r>
            <a:r>
              <a:rPr lang="fr-MA" sz="2400" b="1" dirty="0" err="1"/>
              <a:t>is</a:t>
            </a:r>
            <a:r>
              <a:rPr lang="fr-MA" sz="2400" b="1" dirty="0"/>
              <a:t> the </a:t>
            </a:r>
            <a:r>
              <a:rPr lang="fr-MA" sz="2400" b="1" dirty="0" err="1"/>
              <a:t>effect</a:t>
            </a:r>
            <a:r>
              <a:rPr lang="fr-MA" sz="2400" b="1" dirty="0"/>
              <a:t> size?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48970B3-DEB5-0515-2C22-3685C67734CE}"/>
              </a:ext>
            </a:extLst>
          </p:cNvPr>
          <p:cNvSpPr txBox="1"/>
          <p:nvPr/>
        </p:nvSpPr>
        <p:spPr>
          <a:xfrm>
            <a:off x="18285" y="2226499"/>
            <a:ext cx="4337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2400" b="1" dirty="0"/>
              <a:t>How </a:t>
            </a:r>
            <a:r>
              <a:rPr lang="fr-MA" sz="2400" b="1" dirty="0" err="1"/>
              <a:t>likely</a:t>
            </a:r>
            <a:r>
              <a:rPr lang="fr-MA" sz="2400" b="1" dirty="0"/>
              <a:t> </a:t>
            </a:r>
            <a:r>
              <a:rPr lang="fr-MA" sz="2400" b="1" dirty="0" err="1"/>
              <a:t>is</a:t>
            </a:r>
            <a:r>
              <a:rPr lang="fr-MA" sz="2400" b="1" dirty="0"/>
              <a:t> </a:t>
            </a:r>
            <a:r>
              <a:rPr lang="fr-MA" sz="2400" b="1" dirty="0" err="1"/>
              <a:t>it</a:t>
            </a:r>
            <a:r>
              <a:rPr lang="fr-MA" sz="2400" b="1" dirty="0"/>
              <a:t> </a:t>
            </a:r>
            <a:r>
              <a:rPr lang="fr-MA" sz="2400" b="1" dirty="0" err="1"/>
              <a:t>that</a:t>
            </a:r>
            <a:r>
              <a:rPr lang="fr-MA" sz="2400" b="1" dirty="0"/>
              <a:t> </a:t>
            </a:r>
            <a:r>
              <a:rPr lang="fr-MA" sz="2400" b="1" dirty="0" err="1"/>
              <a:t>this</a:t>
            </a:r>
            <a:r>
              <a:rPr lang="fr-MA" sz="2400" b="1" dirty="0"/>
              <a:t> </a:t>
            </a:r>
            <a:r>
              <a:rPr lang="fr-MA" sz="2400" b="1" dirty="0" err="1"/>
              <a:t>effect</a:t>
            </a:r>
            <a:r>
              <a:rPr lang="fr-MA" sz="2400" b="1" dirty="0"/>
              <a:t> </a:t>
            </a:r>
            <a:r>
              <a:rPr lang="fr-MA" sz="2400" b="1" dirty="0" err="1"/>
              <a:t>also</a:t>
            </a:r>
            <a:r>
              <a:rPr lang="fr-MA" sz="2400" b="1" dirty="0"/>
              <a:t> </a:t>
            </a:r>
            <a:r>
              <a:rPr lang="fr-MA" sz="2400" b="1" dirty="0" err="1"/>
              <a:t>exists</a:t>
            </a:r>
            <a:r>
              <a:rPr lang="fr-MA" sz="2400" b="1" dirty="0"/>
              <a:t> in the population?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EFE517-ED34-F81C-C362-D999AF987F47}"/>
              </a:ext>
            </a:extLst>
          </p:cNvPr>
          <p:cNvSpPr txBox="1"/>
          <p:nvPr/>
        </p:nvSpPr>
        <p:spPr>
          <a:xfrm>
            <a:off x="1051560" y="1670181"/>
            <a:ext cx="2203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i="1" dirty="0"/>
              <a:t>(Look at </a:t>
            </a:r>
            <a:r>
              <a:rPr lang="el-GR" sz="2000" i="1" dirty="0"/>
              <a:t>β</a:t>
            </a:r>
            <a:r>
              <a:rPr lang="fr-MA" sz="2000" i="1" dirty="0"/>
              <a:t>, R²)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48F96F1-B375-8884-0B93-62107EE357E9}"/>
              </a:ext>
            </a:extLst>
          </p:cNvPr>
          <p:cNvSpPr txBox="1"/>
          <p:nvPr/>
        </p:nvSpPr>
        <p:spPr>
          <a:xfrm>
            <a:off x="768093" y="3527349"/>
            <a:ext cx="2916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i="1" dirty="0"/>
              <a:t>(Look at p-value, confidence </a:t>
            </a:r>
            <a:r>
              <a:rPr lang="fr-MA" sz="2000" i="1" dirty="0" err="1"/>
              <a:t>interval</a:t>
            </a:r>
            <a:r>
              <a:rPr lang="fr-MA" sz="2000" i="1" dirty="0"/>
              <a:t>…)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263412-ED42-8768-0E46-E54FBFC49955}"/>
              </a:ext>
            </a:extLst>
          </p:cNvPr>
          <p:cNvSpPr txBox="1"/>
          <p:nvPr/>
        </p:nvSpPr>
        <p:spPr>
          <a:xfrm>
            <a:off x="39297" y="5921325"/>
            <a:ext cx="4337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/>
              <a:t>All </a:t>
            </a:r>
            <a:r>
              <a:rPr lang="fr-MA" sz="2800" b="1" dirty="0" err="1"/>
              <a:t>three</a:t>
            </a:r>
            <a:r>
              <a:rPr lang="fr-MA" sz="2800" b="1" dirty="0"/>
              <a:t> are important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C6BF31E-4B54-40C9-D440-1103F9ABA14F}"/>
              </a:ext>
            </a:extLst>
          </p:cNvPr>
          <p:cNvSpPr txBox="1"/>
          <p:nvPr/>
        </p:nvSpPr>
        <p:spPr>
          <a:xfrm>
            <a:off x="39297" y="4422221"/>
            <a:ext cx="4337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2400" b="1" dirty="0"/>
              <a:t>Is the </a:t>
            </a:r>
            <a:r>
              <a:rPr lang="fr-MA" sz="2400" b="1" dirty="0" err="1"/>
              <a:t>relationship</a:t>
            </a:r>
            <a:r>
              <a:rPr lang="fr-MA" sz="2400" b="1" dirty="0"/>
              <a:t> causal?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283463-D0B6-E6E3-980E-8E45BE68A17A}"/>
              </a:ext>
            </a:extLst>
          </p:cNvPr>
          <p:cNvSpPr txBox="1"/>
          <p:nvPr/>
        </p:nvSpPr>
        <p:spPr>
          <a:xfrm>
            <a:off x="768093" y="4964950"/>
            <a:ext cx="2916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i="1" dirty="0"/>
              <a:t>(Look at </a:t>
            </a:r>
            <a:r>
              <a:rPr lang="fr-MA" sz="2000" i="1" dirty="0" err="1"/>
              <a:t>confounds</a:t>
            </a:r>
            <a:r>
              <a:rPr lang="fr-MA" sz="2000" i="1" dirty="0"/>
              <a:t>, </a:t>
            </a:r>
            <a:r>
              <a:rPr lang="fr-MA" sz="2000" i="1" dirty="0" err="1"/>
              <a:t>econometric</a:t>
            </a:r>
            <a:r>
              <a:rPr lang="fr-MA" sz="2000" i="1" dirty="0"/>
              <a:t> </a:t>
            </a:r>
            <a:r>
              <a:rPr lang="fr-MA" sz="2000" i="1" dirty="0" err="1"/>
              <a:t>methods</a:t>
            </a:r>
            <a:r>
              <a:rPr lang="fr-MA" sz="2000" i="1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407802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414CDF7-0820-E2D0-A90C-048BABF0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852487"/>
            <a:ext cx="9753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0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near Regression in R | A Step-by-Step Guide &amp; Examples">
            <a:extLst>
              <a:ext uri="{FF2B5EF4-FFF2-40B4-BE49-F238E27FC236}">
                <a16:creationId xmlns:a16="http://schemas.microsoft.com/office/drawing/2014/main" id="{47200C4C-F8B5-9578-A5B3-B7977D9C8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444" y="0"/>
            <a:ext cx="7197497" cy="654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75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1500AD5-2ED4-1607-BD4D-D1EE64D9EED8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Point 2: How to plot a </a:t>
            </a:r>
            <a:r>
              <a:rPr lang="fr-MA" sz="4400" b="1" dirty="0" err="1"/>
              <a:t>linear</a:t>
            </a:r>
            <a:r>
              <a:rPr lang="fr-MA" sz="4400" b="1" dirty="0"/>
              <a:t> model</a:t>
            </a:r>
          </a:p>
        </p:txBody>
      </p:sp>
      <p:pic>
        <p:nvPicPr>
          <p:cNvPr id="4" name="Image 3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CA1031E6-6726-075F-A973-29A9A915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86" y="4801832"/>
            <a:ext cx="9955014" cy="1848108"/>
          </a:xfrm>
          <a:prstGeom prst="rect">
            <a:avLst/>
          </a:prstGeom>
        </p:spPr>
      </p:pic>
      <p:pic>
        <p:nvPicPr>
          <p:cNvPr id="6" name="Image 5" descr="Une image contenant ligne, capture d’écran, Tracé, Parallèle&#10;&#10;Le contenu généré par l’IA peut être incorrect.">
            <a:extLst>
              <a:ext uri="{FF2B5EF4-FFF2-40B4-BE49-F238E27FC236}">
                <a16:creationId xmlns:a16="http://schemas.microsoft.com/office/drawing/2014/main" id="{99048F6A-D1FA-BD64-B2E7-A38F3DAE1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95" y="1002718"/>
            <a:ext cx="3989070" cy="37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7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F5E94-4300-C632-4EA8-870497F5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FF94A2F-BF53-47EB-2785-7D9850ABA337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Point 3 : </a:t>
            </a:r>
            <a:r>
              <a:rPr lang="fr-MA" sz="4400" b="1" dirty="0" err="1"/>
              <a:t>everything</a:t>
            </a:r>
            <a:r>
              <a:rPr lang="fr-MA" sz="4400" b="1" dirty="0"/>
              <a:t> </a:t>
            </a:r>
            <a:r>
              <a:rPr lang="fr-MA" sz="4400" b="1" dirty="0" err="1"/>
              <a:t>you</a:t>
            </a:r>
            <a:r>
              <a:rPr lang="fr-MA" sz="4400" b="1" dirty="0"/>
              <a:t> know </a:t>
            </a:r>
            <a:r>
              <a:rPr lang="fr-MA" sz="4400" b="1" dirty="0" err="1"/>
              <a:t>is</a:t>
            </a:r>
            <a:r>
              <a:rPr lang="fr-MA" sz="4400" b="1" dirty="0"/>
              <a:t> a </a:t>
            </a:r>
            <a:r>
              <a:rPr lang="fr-MA" sz="4400" b="1" dirty="0" err="1"/>
              <a:t>linear</a:t>
            </a:r>
            <a:r>
              <a:rPr lang="fr-MA" sz="4400" b="1" dirty="0"/>
              <a:t> model</a:t>
            </a: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985895B-E436-6309-0CC8-7C6CE00A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441"/>
            <a:ext cx="12192000" cy="639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nombr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A18FCF2-44F4-C375-F2E0-A83BBD2D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652" y="0"/>
            <a:ext cx="7326352" cy="6858000"/>
          </a:xfrm>
          <a:prstGeom prst="rect">
            <a:avLst/>
          </a:prstGeom>
        </p:spPr>
      </p:pic>
      <p:pic>
        <p:nvPicPr>
          <p:cNvPr id="5" name="Image 4" descr="Une image contenant Police, texte, calligraphie, typographie&#10;&#10;Le contenu généré par l’IA peut être incorrect.">
            <a:extLst>
              <a:ext uri="{FF2B5EF4-FFF2-40B4-BE49-F238E27FC236}">
                <a16:creationId xmlns:a16="http://schemas.microsoft.com/office/drawing/2014/main" id="{74322EFC-5F14-864B-E53A-9E8F5CAC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707"/>
            <a:ext cx="5030213" cy="116760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ECB00E1-6780-5BA3-526F-D28288F7F49C}"/>
              </a:ext>
            </a:extLst>
          </p:cNvPr>
          <p:cNvSpPr txBox="1"/>
          <p:nvPr/>
        </p:nvSpPr>
        <p:spPr>
          <a:xfrm>
            <a:off x="0" y="2828835"/>
            <a:ext cx="4337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This </a:t>
            </a:r>
            <a:r>
              <a:rPr lang="fr-MA" sz="2400" b="1" dirty="0" err="1"/>
              <a:t>is</a:t>
            </a:r>
            <a:r>
              <a:rPr lang="fr-MA" sz="2400" b="1" dirty="0"/>
              <a:t> </a:t>
            </a:r>
            <a:r>
              <a:rPr lang="fr-MA" sz="2400" b="1" dirty="0" err="1"/>
              <a:t>essentially</a:t>
            </a:r>
            <a:r>
              <a:rPr lang="fr-MA" sz="2400" b="1" dirty="0"/>
              <a:t> a test </a:t>
            </a:r>
            <a:r>
              <a:rPr lang="fr-MA" sz="2400" b="1" dirty="0" err="1"/>
              <a:t>between</a:t>
            </a:r>
            <a:r>
              <a:rPr lang="fr-MA" sz="2400" b="1" dirty="0"/>
              <a:t> </a:t>
            </a:r>
            <a:r>
              <a:rPr lang="fr-MA" sz="2400" b="1" dirty="0" err="1"/>
              <a:t>means</a:t>
            </a:r>
            <a:endParaRPr lang="fr-MA" sz="24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D81332C-577F-42C4-D120-9FA1282E3EC8}"/>
              </a:ext>
            </a:extLst>
          </p:cNvPr>
          <p:cNvSpPr txBox="1"/>
          <p:nvPr/>
        </p:nvSpPr>
        <p:spPr>
          <a:xfrm>
            <a:off x="346127" y="3761991"/>
            <a:ext cx="4337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2400" b="1" dirty="0"/>
              <a:t>b0 </a:t>
            </a:r>
            <a:r>
              <a:rPr lang="fr-MA" sz="2400" b="1" dirty="0" err="1"/>
              <a:t>is</a:t>
            </a:r>
            <a:r>
              <a:rPr lang="fr-MA" sz="2400" b="1" dirty="0"/>
              <a:t> the "initial" </a:t>
            </a:r>
            <a:r>
              <a:rPr lang="fr-MA" sz="2400" b="1" dirty="0" err="1"/>
              <a:t>mean</a:t>
            </a:r>
            <a:endParaRPr lang="fr-MA" sz="24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F66355-2A58-2FC0-F6DB-02151CEFF608}"/>
              </a:ext>
            </a:extLst>
          </p:cNvPr>
          <p:cNvSpPr txBox="1"/>
          <p:nvPr/>
        </p:nvSpPr>
        <p:spPr>
          <a:xfrm>
            <a:off x="346127" y="4515338"/>
            <a:ext cx="4337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MA" sz="2400" b="1" dirty="0"/>
              <a:t>b1 </a:t>
            </a:r>
            <a:r>
              <a:rPr lang="fr-MA" sz="2400" b="1" dirty="0" err="1"/>
              <a:t>is</a:t>
            </a:r>
            <a:r>
              <a:rPr lang="fr-MA" sz="2400" b="1" dirty="0"/>
              <a:t> the </a:t>
            </a:r>
            <a:r>
              <a:rPr lang="fr-MA" sz="2400" b="1" dirty="0" err="1"/>
              <a:t>effect</a:t>
            </a:r>
            <a:r>
              <a:rPr lang="fr-MA" sz="2400" b="1" dirty="0"/>
              <a:t> of </a:t>
            </a:r>
            <a:r>
              <a:rPr lang="fr-MA" sz="2400" b="1" dirty="0" err="1"/>
              <a:t>your</a:t>
            </a:r>
            <a:r>
              <a:rPr lang="fr-MA" sz="2400" b="1" dirty="0"/>
              <a:t> condition (</a:t>
            </a:r>
            <a:r>
              <a:rPr lang="fr-MA" sz="2400" b="1" dirty="0" err="1"/>
              <a:t>i.e</a:t>
            </a:r>
            <a:r>
              <a:rPr lang="fr-MA" sz="2400" b="1" dirty="0"/>
              <a:t> </a:t>
            </a:r>
            <a:r>
              <a:rPr lang="fr-MA" sz="2400" b="1" dirty="0" err="1"/>
              <a:t>difference</a:t>
            </a:r>
            <a:r>
              <a:rPr lang="fr-MA" sz="2400" b="1" dirty="0"/>
              <a:t> in </a:t>
            </a:r>
            <a:r>
              <a:rPr lang="fr-MA" sz="2400" b="1" dirty="0" err="1"/>
              <a:t>mean</a:t>
            </a:r>
            <a:r>
              <a:rPr lang="fr-MA" sz="2400" b="1" dirty="0"/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6CF72C-6942-0B2A-846B-00583D449010}"/>
              </a:ext>
            </a:extLst>
          </p:cNvPr>
          <p:cNvSpPr txBox="1"/>
          <p:nvPr/>
        </p:nvSpPr>
        <p:spPr>
          <a:xfrm>
            <a:off x="85911" y="5806271"/>
            <a:ext cx="4337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(in practice, </a:t>
            </a:r>
            <a:r>
              <a:rPr lang="fr-MA" sz="2400" b="1" dirty="0" err="1"/>
              <a:t>it</a:t>
            </a:r>
            <a:r>
              <a:rPr lang="fr-MA" sz="2400" b="1" dirty="0"/>
              <a:t> can </a:t>
            </a:r>
            <a:r>
              <a:rPr lang="fr-MA" sz="2400" b="1" dirty="0" err="1"/>
              <a:t>be</a:t>
            </a:r>
            <a:r>
              <a:rPr lang="fr-MA" sz="2400" b="1" dirty="0"/>
              <a:t> good to </a:t>
            </a:r>
            <a:r>
              <a:rPr lang="fr-MA" sz="2400" b="1" dirty="0" err="1"/>
              <a:t>create</a:t>
            </a:r>
            <a:r>
              <a:rPr lang="fr-MA" sz="2400" b="1" dirty="0"/>
              <a:t> a "</a:t>
            </a:r>
            <a:r>
              <a:rPr lang="fr-MA" sz="2400" b="1" dirty="0" err="1"/>
              <a:t>dummy</a:t>
            </a:r>
            <a:r>
              <a:rPr lang="fr-MA" sz="2400" b="1" dirty="0"/>
              <a:t>" (0/1)</a:t>
            </a:r>
          </a:p>
        </p:txBody>
      </p:sp>
    </p:spTree>
    <p:extLst>
      <p:ext uri="{BB962C8B-B14F-4D97-AF65-F5344CB8AC3E}">
        <p14:creationId xmlns:p14="http://schemas.microsoft.com/office/powerpoint/2010/main" val="7728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C1E8D-530B-7A6C-0A9D-228F06B3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82" y="129254"/>
            <a:ext cx="8497036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6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ree basic directed acyclic graph (DAG) types. The relationship under... |  Download Scientific Diagram">
            <a:extLst>
              <a:ext uri="{FF2B5EF4-FFF2-40B4-BE49-F238E27FC236}">
                <a16:creationId xmlns:a16="http://schemas.microsoft.com/office/drawing/2014/main" id="{14DE38AC-88AA-A568-C2B5-5B65F29E2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14" y="2275114"/>
            <a:ext cx="10849371" cy="298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E0D5472-73B9-02FC-FBF9-923E689E312E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4400" b="1" dirty="0"/>
              <a:t>Point 4 : </a:t>
            </a:r>
            <a:r>
              <a:rPr lang="fr-MA" sz="4400" b="1" dirty="0" err="1"/>
              <a:t>make</a:t>
            </a:r>
            <a:r>
              <a:rPr lang="fr-MA" sz="4400" b="1" dirty="0"/>
              <a:t> </a:t>
            </a:r>
            <a:r>
              <a:rPr lang="fr-MA" sz="4400" b="1"/>
              <a:t>DAGs</a:t>
            </a:r>
            <a:endParaRPr lang="fr-MA" sz="4400" b="1" dirty="0"/>
          </a:p>
        </p:txBody>
      </p:sp>
    </p:spTree>
    <p:extLst>
      <p:ext uri="{BB962C8B-B14F-4D97-AF65-F5344CB8AC3E}">
        <p14:creationId xmlns:p14="http://schemas.microsoft.com/office/powerpoint/2010/main" val="17100369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148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MOHAMMED VI POLYTECHNIC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SIJILMASSI</dc:creator>
  <cp:lastModifiedBy>Amine SIJILMASSI</cp:lastModifiedBy>
  <cp:revision>3</cp:revision>
  <dcterms:created xsi:type="dcterms:W3CDTF">2026-02-02T15:27:02Z</dcterms:created>
  <dcterms:modified xsi:type="dcterms:W3CDTF">2026-09-28T09:06:31Z</dcterms:modified>
</cp:coreProperties>
</file>